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Roboto Mono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Mono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ono-italic.fntdata"/><Relationship Id="rId14" Type="http://schemas.openxmlformats.org/officeDocument/2006/relationships/font" Target="fonts/RobotoMono-bold.fntdata"/><Relationship Id="rId16" Type="http://schemas.openxmlformats.org/officeDocument/2006/relationships/font" Target="fonts/RobotoMon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28937635197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28937635197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8953c4cc47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8953c4cc4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8937635197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8937635197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8953c4cc47_1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28953c4cc47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8953c4cc47_1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8953c4cc47_1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8937635197_1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28937635197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9.png"/><Relationship Id="rId7" Type="http://schemas.openxmlformats.org/officeDocument/2006/relationships/image" Target="../media/image3.png"/><Relationship Id="rId8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99050" y="1343400"/>
            <a:ext cx="8745900" cy="1439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9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Time-Complexity of Key-Insertion in Python Dicts</a:t>
            </a:r>
            <a:endParaRPr b="1" sz="39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2772750" y="2885425"/>
            <a:ext cx="3859800" cy="60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Verdana"/>
                <a:ea typeface="Verdana"/>
                <a:cs typeface="Verdana"/>
                <a:sym typeface="Verdana"/>
              </a:rPr>
              <a:t>Rob Orsini</a:t>
            </a:r>
            <a:endParaRPr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4633" y="1589225"/>
            <a:ext cx="2383366" cy="178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45250" y="996024"/>
            <a:ext cx="2463101" cy="1847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411798" y="979625"/>
            <a:ext cx="2463099" cy="18473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45247" y="2940225"/>
            <a:ext cx="2463101" cy="184732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11800" y="2940225"/>
            <a:ext cx="2463101" cy="184733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132825" y="302350"/>
            <a:ext cx="1740600" cy="13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(0,  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(1000, 2000)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(2000, 3000)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(3000, 4000)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</a:t>
            </a: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4000, 5000)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131400" y="218300"/>
            <a:ext cx="47472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2618925" y="302350"/>
            <a:ext cx="55581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Initial bucket sizes showed O(1)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cxnSp>
        <p:nvCxnSpPr>
          <p:cNvPr id="70" name="Google Shape;70;p14"/>
          <p:cNvCxnSpPr>
            <a:endCxn id="67" idx="3"/>
          </p:cNvCxnSpPr>
          <p:nvPr/>
        </p:nvCxnSpPr>
        <p:spPr>
          <a:xfrm rot="10800000">
            <a:off x="1873425" y="952900"/>
            <a:ext cx="549600" cy="357000"/>
          </a:xfrm>
          <a:prstGeom prst="straightConnector1">
            <a:avLst/>
          </a:prstGeom>
          <a:noFill/>
          <a:ln cap="flat" cmpd="sng" w="28575">
            <a:solidFill>
              <a:srgbClr val="CC412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1" name="Google Shape;71;p14"/>
          <p:cNvSpPr txBox="1"/>
          <p:nvPr/>
        </p:nvSpPr>
        <p:spPr>
          <a:xfrm>
            <a:off x="2237295" y="1218522"/>
            <a:ext cx="1276200" cy="41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rgbClr val="CC4125"/>
                </a:solidFill>
              </a:rPr>
              <a:t>Too similar</a:t>
            </a:r>
            <a:endParaRPr b="1" sz="1600">
              <a:solidFill>
                <a:srgbClr val="CC4125"/>
              </a:solidFill>
            </a:endParaRPr>
          </a:p>
        </p:txBody>
      </p:sp>
      <p:cxnSp>
        <p:nvCxnSpPr>
          <p:cNvPr id="72" name="Google Shape;72;p14"/>
          <p:cNvCxnSpPr/>
          <p:nvPr/>
        </p:nvCxnSpPr>
        <p:spPr>
          <a:xfrm rot="10800000">
            <a:off x="1873525" y="1224700"/>
            <a:ext cx="403200" cy="126300"/>
          </a:xfrm>
          <a:prstGeom prst="straightConnector1">
            <a:avLst/>
          </a:prstGeom>
          <a:noFill/>
          <a:ln cap="flat" cmpd="sng" w="28575">
            <a:solidFill>
              <a:srgbClr val="CC4125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575" y="1589225"/>
            <a:ext cx="2463101" cy="1847318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16650" y="872525"/>
            <a:ext cx="2603850" cy="1952893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70800" y="838725"/>
            <a:ext cx="2603850" cy="19528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44444" y="2862495"/>
            <a:ext cx="2535875" cy="1901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152291" y="2825425"/>
            <a:ext cx="2686909" cy="2015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478925" y="387025"/>
            <a:ext cx="1911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(1, 10)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(10, 100)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(100, 1000)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(1000, 10000)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(10000, 100000)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4" name="Google Shape;84;p15"/>
          <p:cNvSpPr txBox="1"/>
          <p:nvPr/>
        </p:nvSpPr>
        <p:spPr>
          <a:xfrm>
            <a:off x="1780400" y="271450"/>
            <a:ext cx="70332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Exponentially larger buckets indicate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O(N)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 txBox="1"/>
          <p:nvPr/>
        </p:nvSpPr>
        <p:spPr>
          <a:xfrm>
            <a:off x="1255625" y="488150"/>
            <a:ext cx="6699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3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Data summary from five bucket runs</a:t>
            </a:r>
            <a:endParaRPr b="1" sz="230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91" name="Google Shape;91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144350"/>
            <a:ext cx="9143997" cy="2326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/>
        </p:nvSpPr>
        <p:spPr>
          <a:xfrm>
            <a:off x="708650" y="365275"/>
            <a:ext cx="7559100" cy="5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Plots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of mean and standard deviation per run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98" name="Google Shape;9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725" y="1081675"/>
            <a:ext cx="2290101" cy="1717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40550" y="1005475"/>
            <a:ext cx="2506450" cy="187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23150" y="918737"/>
            <a:ext cx="2622099" cy="1966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940550" y="2955325"/>
            <a:ext cx="2506450" cy="1879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769575" y="2961500"/>
            <a:ext cx="2506442" cy="187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8"/>
          <p:cNvSpPr txBox="1"/>
          <p:nvPr/>
        </p:nvSpPr>
        <p:spPr>
          <a:xfrm>
            <a:off x="1165850" y="441475"/>
            <a:ext cx="6999000" cy="5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M</a:t>
            </a:r>
            <a:r>
              <a:rPr b="1" lang="en" sz="220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ean and standard deviation summarized</a:t>
            </a:r>
            <a:endParaRPr sz="1700">
              <a:solidFill>
                <a:schemeClr val="dk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2574" y="891300"/>
            <a:ext cx="5110966" cy="3833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8"/>
          <p:cNvSpPr txBox="1"/>
          <p:nvPr/>
        </p:nvSpPr>
        <p:spPr>
          <a:xfrm>
            <a:off x="1088525" y="1377625"/>
            <a:ext cx="19110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(1, 10)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(10, 100)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(100, 1000)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(1000, 10000)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E7CC3"/>
                </a:solidFill>
                <a:latin typeface="Roboto Mono"/>
                <a:ea typeface="Roboto Mono"/>
                <a:cs typeface="Roboto Mono"/>
                <a:sym typeface="Roboto Mono"/>
              </a:rPr>
              <a:t>(10000, 100000)</a:t>
            </a:r>
            <a:endParaRPr b="1">
              <a:solidFill>
                <a:srgbClr val="8E7CC3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486325"/>
            <a:ext cx="2023849" cy="1390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9"/>
          <p:cNvSpPr txBox="1"/>
          <p:nvPr/>
        </p:nvSpPr>
        <p:spPr>
          <a:xfrm>
            <a:off x="1070425" y="614150"/>
            <a:ext cx="5648700" cy="15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The</a:t>
            </a: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t</a:t>
            </a:r>
            <a:r>
              <a:rPr b="1" lang="en" sz="21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ime-complexity of key-insertion in Python dictionaries is constant complexity.</a:t>
            </a:r>
            <a:endParaRPr b="1" sz="21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7" name="Google Shape;117;p19"/>
          <p:cNvSpPr txBox="1"/>
          <p:nvPr/>
        </p:nvSpPr>
        <p:spPr>
          <a:xfrm>
            <a:off x="5129250" y="363975"/>
            <a:ext cx="2250900" cy="171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9000">
                <a:solidFill>
                  <a:srgbClr val="3C78D8"/>
                </a:solidFill>
              </a:rPr>
              <a:t>O</a:t>
            </a:r>
            <a:r>
              <a:rPr b="1" lang="en" sz="5100">
                <a:solidFill>
                  <a:srgbClr val="3C78D8"/>
                </a:solidFill>
              </a:rPr>
              <a:t>(1)</a:t>
            </a:r>
            <a:endParaRPr b="1" sz="5100">
              <a:solidFill>
                <a:srgbClr val="3C78D8"/>
              </a:solidFill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2652700" y="2343000"/>
            <a:ext cx="5799000" cy="11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However, as</a:t>
            </a:r>
            <a:r>
              <a:rPr b="1" lang="en" sz="2080">
                <a:solidFill>
                  <a:srgbClr val="3C78D8"/>
                </a:solidFill>
                <a:latin typeface="Verdana"/>
                <a:ea typeface="Verdana"/>
                <a:cs typeface="Verdana"/>
                <a:sym typeface="Verdana"/>
              </a:rPr>
              <a:t> the dictionary size gets very large the time-complexity approaches linear complexity. </a:t>
            </a:r>
            <a:endParaRPr b="1" sz="2080">
              <a:solidFill>
                <a:srgbClr val="3C78D8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9"/>
          <p:cNvSpPr txBox="1"/>
          <p:nvPr/>
        </p:nvSpPr>
        <p:spPr>
          <a:xfrm>
            <a:off x="5635900" y="3284150"/>
            <a:ext cx="1649400" cy="11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6800">
                <a:solidFill>
                  <a:srgbClr val="3C78D8"/>
                </a:solidFill>
              </a:rPr>
              <a:t>O</a:t>
            </a:r>
            <a:r>
              <a:rPr b="1" lang="en" sz="2900">
                <a:solidFill>
                  <a:srgbClr val="3C78D8"/>
                </a:solidFill>
              </a:rPr>
              <a:t>(N)</a:t>
            </a:r>
            <a:endParaRPr b="1" sz="2900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00000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